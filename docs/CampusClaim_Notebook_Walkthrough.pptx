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Georgia"/>
              </a:rPr>
              <a:t>CampusClaim</a:t>
            </a:r>
          </a:p>
          <a:p>
            <a:pPr>
              <a:spcBef>
                <a:spcPts val="1200"/>
              </a:spcBef>
            </a:pPr>
            <a:r>
              <a:rPr sz="2200" b="0">
                <a:solidFill>
                  <a:srgbClr val="B8D4CE"/>
                </a:solidFill>
                <a:latin typeface="Calibri"/>
              </a:rPr>
              <a:t>Receipt Information Extraction with Gemma 4 Vision</a:t>
            </a:r>
          </a:p>
          <a:p>
            <a:pPr>
              <a:spcBef>
                <a:spcPts val="1800"/>
              </a:spcBef>
            </a:pPr>
            <a:r>
              <a:rPr sz="1400" b="0">
                <a:solidFill>
                  <a:srgbClr val="9AB0AA"/>
                </a:solidFill>
                <a:latin typeface="Calibri"/>
              </a:rPr>
              <a:t>A detailed walkthrough of notebooks/campusclaim_3b.ipynb
Hacktoberfest Hack Day · Theme 3B · Unsloth LoRA on Colab T4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Agenda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What this deck covers from the working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Problem &amp; Theme 3B scope — why CampusClaim exists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Notebook architecture — seven steps from install to adapter zip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Dataset — ICDAR 2019 SROIE, frozen eval sample, domain shift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Memory-safe Colab design — why the first runs crashed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Baseline → LoRA fine-tune → comparison on the same 100 receipts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Scoring, exports, Gradio demo, and optional policy RAG bonus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Honest limits, cut lines, and what to say in the live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The problem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Student clubs retype receipts and hunt for reimbursement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F7A6E"/>
                </a:solidFill>
                <a:latin typeface="Calibri"/>
              </a:rPr>
              <a:t>Today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Photograph a receipt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Retype merchant, date,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address, and total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Search finance PDFs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Draft a claim by hand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Wait on human approval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1732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F7A6E"/>
                </a:solidFill>
                <a:latin typeface="Calibri"/>
              </a:rPr>
              <a:t>CampusClaim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Upload the image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Extract four fields as JSON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Edit mistakes in the form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Draft a claim summary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Optional: cited policy Q&amp;A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417320"/>
            <a:ext cx="356616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F7A6E"/>
                </a:solidFill>
                <a:latin typeface="Calibri"/>
              </a:rPr>
              <a:t>Still human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Approval stays with the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college reviewer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The model prepares the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claim — it does not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sanction the expense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Theme selection — 3B only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Confirmed 24 October 2026 · one theme per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Primary: Theme 3B — Receipt Information Extraction (required)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Bonus only: Theme 2A-style policy RAG as the 3B “combined approach”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Out of scope for hack day: Theme 1 four-model scorecard · Laya decision layer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Model: unsloth/gemma-4-E2B-it (4-bit) with Unsloth FastVisionModel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Hardware: free Colab T4 · GPU cells are not runnable in the local checkout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Source of truth for the run: shared Colab notebook; repo holds the versioned copy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Notebook map — seven steps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campusclaim_3b.ipynb run order (T4 GPU required)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554480"/>
            <a:ext cx="411480" cy="41148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94560"/>
            <a:ext cx="15544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F7A6E"/>
                </a:solidFill>
                <a:latin typeface="Calibri"/>
              </a:rPr>
              <a:t>Load model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FastVisionModel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4-bit · chat template</a:t>
            </a:r>
          </a:p>
        </p:txBody>
      </p:sp>
      <p:sp>
        <p:nvSpPr>
          <p:cNvPr id="7" name="Oval 6"/>
          <p:cNvSpPr/>
          <p:nvPr/>
        </p:nvSpPr>
        <p:spPr>
          <a:xfrm>
            <a:off x="2578608" y="1554480"/>
            <a:ext cx="411480" cy="41148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75688" y="2194560"/>
            <a:ext cx="15544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F7A6E"/>
                </a:solidFill>
                <a:latin typeface="Calibri"/>
              </a:rPr>
              <a:t>Load data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SROIE train/test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lazy indices</a:t>
            </a:r>
          </a:p>
        </p:txBody>
      </p:sp>
      <p:sp>
        <p:nvSpPr>
          <p:cNvPr id="9" name="Oval 8"/>
          <p:cNvSpPr/>
          <p:nvPr/>
        </p:nvSpPr>
        <p:spPr>
          <a:xfrm>
            <a:off x="4242816" y="1554480"/>
            <a:ext cx="411480" cy="41148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39896" y="2194560"/>
            <a:ext cx="15544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F7A6E"/>
                </a:solidFill>
                <a:latin typeface="Calibri"/>
              </a:rPr>
              <a:t>Baseline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Smoke → 100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plain Gemma</a:t>
            </a:r>
          </a:p>
        </p:txBody>
      </p:sp>
      <p:sp>
        <p:nvSpPr>
          <p:cNvPr id="11" name="Oval 10"/>
          <p:cNvSpPr/>
          <p:nvPr/>
        </p:nvSpPr>
        <p:spPr>
          <a:xfrm>
            <a:off x="5907024" y="1554480"/>
            <a:ext cx="411480" cy="41148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4104" y="2194560"/>
            <a:ext cx="15544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F7A6E"/>
                </a:solidFill>
                <a:latin typeface="Calibri"/>
              </a:rPr>
              <a:t>LoRA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Vision + language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120 steps</a:t>
            </a:r>
          </a:p>
        </p:txBody>
      </p:sp>
      <p:sp>
        <p:nvSpPr>
          <p:cNvPr id="13" name="Oval 12"/>
          <p:cNvSpPr/>
          <p:nvPr/>
        </p:nvSpPr>
        <p:spPr>
          <a:xfrm>
            <a:off x="7571232" y="1554480"/>
            <a:ext cx="411480" cy="41148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68312" y="2194560"/>
            <a:ext cx="15544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F7A6E"/>
                </a:solidFill>
                <a:latin typeface="Calibri"/>
              </a:rPr>
              <a:t>Evaluate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Same 100 keys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comparison table</a:t>
            </a:r>
          </a:p>
        </p:txBody>
      </p:sp>
      <p:sp>
        <p:nvSpPr>
          <p:cNvPr id="15" name="Oval 14"/>
          <p:cNvSpPr/>
          <p:nvPr/>
        </p:nvSpPr>
        <p:spPr>
          <a:xfrm>
            <a:off x="9235440" y="1554480"/>
            <a:ext cx="411480" cy="41148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19" y="2194560"/>
            <a:ext cx="15544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F7A6E"/>
                </a:solidFill>
                <a:latin typeface="Calibri"/>
              </a:rPr>
              <a:t>App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Gradio upload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edit · claim draft</a:t>
            </a:r>
          </a:p>
        </p:txBody>
      </p:sp>
      <p:sp>
        <p:nvSpPr>
          <p:cNvPr id="17" name="Oval 16"/>
          <p:cNvSpPr/>
          <p:nvPr/>
        </p:nvSpPr>
        <p:spPr>
          <a:xfrm>
            <a:off x="10899648" y="1554480"/>
            <a:ext cx="411480" cy="411480"/>
          </a:xfrm>
          <a:prstGeom prst="ellipse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96728" y="2194560"/>
            <a:ext cx="15544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F7A6E"/>
                </a:solidFill>
                <a:latin typeface="Calibri"/>
              </a:rPr>
              <a:t>Save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Adapter zip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before disconnect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Runtime budget on a free T4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Plan the showcase around these ranges from the notebook header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Install Unsloth + deps — about 2–4 minutes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Model download (gemma-4-E2B-it) — about 5 minutes first time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SROIE download — about 2 minutes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Baseline on 100 receipts — about 3–5 minutes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120 LoRA steps — about 20–30 minutes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Fine-tuned eval on the same 100 — about 3–5 minutes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Critical: stop after the one-receipt smoke test before spending GPU on the full baseline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Gemma 4 is forced to float32 on T4 (float16 → NaN gradients) — expected; image side capped at 1024 px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Dataset — ICDAR 2019 SROIE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jsdnrs/ICDAR2019-SROIE · CC-BY-4.0 · Malaysian receipts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987 rows: 626 train · 361 test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Entities used: company, date, address, total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words / bboxes unused — those would be an OCR baseline, not vision fine-tuning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One train row has empty total → 625 usable train receipts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All 361 test rows usable; evaluation uses a frozen 100-key sample (seed 0)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Frozen keys live in data/eval_keys_seed0.json and are embedded in the notebook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Never resample mid-run — baseline and fine-tuned must share the exact same receipts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Domain shift: SROIE score ≠ campus-receipt score; local receipts are a separate, labelled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Colab memory design (the hard part)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“Session crashed after using all available RAM” — system RAM, not GPU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Free Colab ≈ 12.7 GB system RAM · T4 ≈ 15 GB VRAM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First crash cause: iterating the image column and decoding ~1,000 PILs into Python lists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Fix 1 — filter on key/entities only via select_columns (metadata views)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Fix 2 — LazyRows for evaluation (decode one receipt per access)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Fix 3 — training Dataset of row indices + with_transform (messages + images)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TRL SFTTrainer accepts datasets.Dataset / IterableDataset — not torch.utils.data.Dataset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Do not Dataset.from_list(all conversations) — that reintroduces the RAM spike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MAX_IMAGE_SIDE = 1024 · dataloader_num_workers = 0 · gc + empty_cache around heavy cells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Step 1 — Load the vision model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FastVisionModel.from_pretrained + Gemma 4 chat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MODEL_NAME = unsloth/gemma-4-E2B-it (E4B is stronger but tighter on a T4)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load_in_4bit=True — fits inside free T4 VRAM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use_gradient_checkpointing = "unsloth"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Returns a processor, not a tokenizer — use get_chat_template(processor, "gemma-4")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INSTRUCTION: Extract company, date, address, total · reply with JSON only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Print device + allocated/reserved GPU memory after load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Common pitfall: calling processor.tokenizer → TypeError on Gemma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Step 2 — Conversation format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What each training example looks like for UnslothVisionDataCollator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messages[user]: text instruction + {"type": "image"} placeholder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messages[assistant]: JSON string of the four gold entities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images: [prepared PIL] — separate column matching generate_from_image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prepare_image: RGB convert + thumbnail to MAX_IMAGE_SIDE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INSTRUCTION is redefined in the conversation cell so partial re-runs after a restart do not NameError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Preview prints the assistant JSON for row 0 to confirm the pipeline before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Step 3 — Generation &amp; scoring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Same instruction for baseline and fine-tuned · normalised field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generate_from_image: chat template → processor(images=…) → greedy decode new tokens only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parse_json: first JSON object in the reply (handles fences / prose wrappers)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Normalisers: case/punctuation for text · date formats · currency/comma totals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Metrics: valid JSON · exact company/date/address/total · address token-F1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Formatting differences are not counted as wrong extractions after normalisation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Report valid JSON separately — a prose reply scores 0 on every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Smoke test — gate before the long run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One frozen receipt · if this fails, do not start the 100-receipt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smoke = eval_rows[0]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Print key, expected entities, and prediction JSON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Success criterion: valid JSON with the four fields (accuracy can still be wrong)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Failure: fix generation / processor / OOM before spending 30+ minutes of GPU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This is the checkpoint the Colab handoff asks M1 to paste back to 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Baseline — plain Gemma on 100 receipts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evaluate_vision(eval_rows, "plain_model")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Runs the frozen 100 keys with adapters off (or before LoRA is attached)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Produces baseline_df + baseline_metrics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This is the control group every fine-tuned result must beat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Export later: baseline_predictions.csv · baseline_metrics.json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Do not change EVAL_KEYS between baseline and fine-tuned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Step 4 — LoRA fine-tuning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Vision layers are trained because the task is reading the receipt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FastVisionModel.get_peft_model · r = alpha = 16 · dropout 0 · all-linear targets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finetune_vision_layers = True (and language / attention / MLP)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SFTTrainer + UnslothVisionDataCollator · processing_class = processor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120 steps ≈ 0.75 epoch over 625 usable train receipts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LR 2e-4 · batch 1 · grad accum 4 · max_length 2048 · adamw_8bit · cosine schedule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skip_prepare_dataset=True · remove_unused_columns=False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OOM fallbacks: LORA_RANK=8 · finetune_vision_layers=False · MAX_IMAGE_SIDE=800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Step 5 — Fine-tuned eval &amp; comparison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Same receipts · same instruction · same scorers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tuned_records = evaluate_vision(eval_rows, "fine_tuned_model")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comparison table: Plain % · Fine-tuned % · Change (points)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Failure table: receipts with any wrong field among company/date/address/total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Show where fine-tuning helped and where it did not — no invented wins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Exact address is strict; always show token-F1 beside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Metrics slide (fill from results/)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Numbers come only from comparison.csv after the Colab run — never invent them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554480"/>
          <a:ext cx="98755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  <a:gridCol w="2468880"/>
                <a:gridCol w="246888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F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Plain Gemma</a:t>
                      </a:r>
                    </a:p>
                  </a:txBody>
                  <a:tcPr>
                    <a:solidFill>
                      <a:srgbClr val="0F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Fine-tuned</a:t>
                      </a:r>
                    </a:p>
                  </a:txBody>
                  <a:tcPr>
                    <a:solidFill>
                      <a:srgbClr val="0F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>
                    <a:solidFill>
                      <a:srgbClr val="0F2C3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Valid 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Company exact</a:t>
                      </a:r>
                    </a:p>
                  </a:txBody>
                  <a:tcPr>
                    <a:solidFill>
                      <a:srgbClr val="E7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7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7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7EE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Date exact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Address exact</a:t>
                      </a:r>
                    </a:p>
                  </a:txBody>
                  <a:tcPr>
                    <a:solidFill>
                      <a:srgbClr val="E7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7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7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7EE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Total exact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Address token-F1</a:t>
                      </a:r>
                    </a:p>
                  </a:txBody>
                  <a:tcPr>
                    <a:solidFill>
                      <a:srgbClr val="E7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7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7EE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F2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7EE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" y="557784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C45C26"/>
                </a:solidFill>
                <a:latin typeface="Calibri"/>
              </a:rPr>
              <a:t>After export: copy from results/comparison.csv. M2 owns verification before the deck goes final.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Exports for M2 / M5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results/ folder written by the notebook export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baseline_metrics.json · tuned_metrics.json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comparison.csv · failures.csv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baseline_predictions.csv · tuned_predictions.csv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settings.json — model, instruction, eval size/seed, image side, LoRA, steps, LR, batch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Download the whole results/ folder from the Colab file browser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Also download campusclaim_gemma4_lora.zip immediately after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Step 6 — Gradio application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Upload → extract (plain vs tuned) → edit → claim draft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F7A6E"/>
                </a:solidFill>
                <a:latin typeface="Calibri"/>
              </a:rPr>
              <a:t>In-notebook demo (primary)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extract_both: disable_adapter for plain,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then tuned with adapters 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Editable fields: company, date,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address, total + purpose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build_summary marks missing fields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and reminds that approval is human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Standalone app/gradio_app.py is the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CPU fallback (dummy or --no-dummy)</a:t>
            </a:r>
          </a:p>
        </p:txBody>
      </p:sp>
      <p:pic>
        <p:nvPicPr>
          <p:cNvPr id="6" name="Picture 5" descr="01-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714924" cy="960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58400" y="16916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A6E"/>
                </a:solidFill>
                <a:latin typeface="Calibri"/>
              </a:rPr>
              <a:t>Upload</a:t>
            </a:r>
          </a:p>
        </p:txBody>
      </p:sp>
      <p:pic>
        <p:nvPicPr>
          <p:cNvPr id="8" name="Picture 7" descr="02-extr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514600"/>
            <a:ext cx="691589" cy="960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0" y="2788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A6E"/>
                </a:solidFill>
                <a:latin typeface="Calibri"/>
              </a:rPr>
              <a:t>Extract</a:t>
            </a:r>
          </a:p>
        </p:txBody>
      </p:sp>
      <p:pic>
        <p:nvPicPr>
          <p:cNvPr id="10" name="Picture 9" descr="03-edited-f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3611880"/>
            <a:ext cx="691589" cy="960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58400" y="38862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A6E"/>
                </a:solidFill>
                <a:latin typeface="Calibri"/>
              </a:rPr>
              <a:t>Edit</a:t>
            </a:r>
          </a:p>
        </p:txBody>
      </p:sp>
      <p:pic>
        <p:nvPicPr>
          <p:cNvPr id="12" name="Picture 11" descr="04-claim-draf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709159"/>
            <a:ext cx="691589" cy="960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58400" y="498347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A6E"/>
                </a:solidFill>
                <a:latin typeface="Calibri"/>
              </a:rPr>
              <a:t>Claim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5-minute demo script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From docs/demo-script.md / team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0:30 — Problem: clubs retype receipts and hunt rules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1:30 — Extraction: upload held-out receipt · plain vs fine-tuned side by side · fix one field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1:00 — Claim draft from corrected fields · show missing information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1:00 — Evidence: metrics table + two failures (include a wrong total)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1:00 — Policy (if CP1 green): covered question with citation · uncovered refusal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0:30 — Limits: SROIE is Malaysian · local receipts separate · approval stays human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Step 7 — Save adapters before disconnect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Free Colab can die without warning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model.save_pretrained("campusclaim_gemma4_lora")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processor.save_pretrained(...)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zip the folder → campusclaim_gemma4_lora.zip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Copy to Google Drive immediately after training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On reconnect: reload base model → load adapters → re-run eval/app only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Optional: push_to_hub with a Hugging Face token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Optional bonus — policy RAG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Only after Checkpoint 1 (baseline + fine-tune + app green)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Separate notebook — do not mix RAG into the GPU extraction notebook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Proxy docs shortlisted: SNU student reimbursement policy · IIIT Una SAC policy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15-question test: 10 covered · 5 must refuse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Every answer cites document + page; never invent policy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If RAG is not green by CP2 — hide the tab; do not demo a broken feature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Deck must say policy docs are institutional proxies unless college PDFs arrive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Honest reporting notes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From the notebook’s closing markdown — judges reward clarity over hype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SROIE is Malaysian (RM, dd/mm/yyyy) — campus receipts are a domain shift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Report valid JSON separately from field accuracy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Exact address match is strict — always pair with token-F1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State eval subset size and seed (100 · seed 0)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Never compare a 100-receipt baseline with a 361-receipt fine-tuned run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If fine-tuning loses on a field — show it; the problem statement asks for that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Cut lines &amp; fallbacks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From docs/team-plan.md — decide early, record what you did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CUDA OOM → keep 4-bit · freeze vision layers · lower image side / max_length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Training &gt; 30 min → stop, save, evaluate actual step count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Colab disconnect → reload base + adapters from Drive · eval/app only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GPU quota gone → switch Google account (notebook is account-agnostic)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Fine-tuned worse → report honestly · use prompted baseline as comparison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RAG scanned PDFs → replace or drop bonus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Repo companion pieces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What lives outside the notebook but supports the same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app/inference.py — mirrors generate_from_image for the standalone Gradio app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app/gradio_app.py — dummy by default · --no-dummy with adapter path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scripts/score.py · validate_notebook.py · demo_pipeline.py · freeze_eval_sample.py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tests/ — 40 standard-library tests · bash scripts/check.sh = CI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dev = integration branch · main = submitted baseline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GPU work stays in Colab; local checks stay CPU-only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Team ownership (Hack Day 3B)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Only M1 edits the shared notebook; others use SCRATCH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214884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F7A6E"/>
                </a:solidFill>
                <a:latin typeface="Calibri"/>
              </a:rPr>
              <a:t>M1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Notebook + fine-tune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Colab run, adapters, smoke gate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554480"/>
            <a:ext cx="214884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F7A6E"/>
                </a:solidFill>
                <a:latin typeface="Calibri"/>
              </a:rPr>
              <a:t>M2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Eval + metrics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Frozen keys, comparison, failures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1554480"/>
            <a:ext cx="214884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F7A6E"/>
                </a:solidFill>
                <a:latin typeface="Calibri"/>
              </a:rPr>
              <a:t>M3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App + demo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Gradio, screenshots, backup clip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554480"/>
            <a:ext cx="214884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F7A6E"/>
                </a:solidFill>
                <a:latin typeface="Calibri"/>
              </a:rPr>
              <a:t>M4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Policy RAG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PDFs + 15Q after CP1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1554480"/>
            <a:ext cx="214884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E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/>
            <a:r>
              <a:rPr sz="1400" b="1">
                <a:solidFill>
                  <a:srgbClr val="1F7A6E"/>
                </a:solidFill>
                <a:latin typeface="Calibri"/>
              </a:rPr>
              <a:t>M5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Deck + rehearsal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1F24"/>
                </a:solidFill>
                <a:latin typeface="Calibri"/>
              </a:rPr>
              <a:t>Slides, rubric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Definition of done (rubric checklist)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Tick these before the final rehearsal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Fine-tuned model with settings documented (steps, LR, rank, image size, subset)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Dataset description: source, 626/361, fields, filtering, frozen eval sample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Comparative analysis on the same receipts (JSON + four fields + address F1)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Working app demonstrated live (upload → extract → edit → claim draft)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Discussion of where fine-tuning helped / did not / why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Backup video + screenshots if live demo fails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Bonus only if green: policy RAG with citations, refusal, 15-question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2C3C"/>
                </a:solidFill>
                <a:latin typeface="Georgia"/>
              </a:rPr>
              <a:t>Immediate next steps for M1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656E"/>
                </a:solidFill>
                <a:latin typeface="Calibri"/>
              </a:rPr>
              <a:t>Where the notebook run stands operationally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Disconnect and delete the Colab runtime after any RAM crash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Upload the patched notebooks/campusclaim_3b.ipynb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Run install → GPU check → model → data → conversations → smoke test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Paste smoke output before starting the 100-receipt baseline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After training: save zip to Drive · run fine-tuned eval · export results/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4"/>
                </a:solidFill>
                <a:latin typeface="Calibri"/>
              </a:rPr>
              <a:t>Hand results/ to M2 · fill metrics slide · rehearse the 5-minute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56E"/>
                </a:solidFill>
                <a:latin typeface="Calibri"/>
              </a:rPr>
              <a:t>CampusClaim · Theme 3B · notebooks/campusclaim_3b.ipynb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A656E"/>
                </a:solidFill>
                <a:latin typeface="Calibri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Georgia"/>
              </a:rPr>
              <a:t>Questions</a:t>
            </a:r>
          </a:p>
          <a:p>
            <a:pPr>
              <a:spcBef>
                <a:spcPts val="1600"/>
              </a:spcBef>
            </a:pPr>
            <a:r>
              <a:rPr sz="1600" b="0">
                <a:solidFill>
                  <a:srgbClr val="B8D4CE"/>
                </a:solidFill>
                <a:latin typeface="Calibri"/>
              </a:rPr>
              <a:t>CampusClaim · Theme 3B · Gemma 4 E2B + LoRA on SROIE
Notebook: notebooks/campusclaim_3b.ipynb · Repo: sank8-2/campusclaim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